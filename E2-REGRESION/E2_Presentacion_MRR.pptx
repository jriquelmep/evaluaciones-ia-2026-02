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nulos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satisfaccion_nps</c:v>
                  </c:pt>
                  <c:pt idx="1">
                    <c:v>tickets_soporte</c:v>
                  </c:pt>
                  <c:pt idx="2">
                    <c:v>promedio_sesiones_mes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8.2</c:v>
                </c:pt>
                <c:pt idx="2">
                  <c:v>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MAE/MRR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Pequeña</c:v>
                  </c:pt>
                  <c:pt idx="1">
                    <c:v>Mediana</c:v>
                  </c:pt>
                  <c:pt idx="2">
                    <c:v>Grande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11.8</c:v>
                </c:pt>
                <c:pt idx="1">
                  <c:v>9</c:v>
                </c:pt>
                <c:pt idx="2">
                  <c:v>7.6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1F3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</c:v>
                </c:pt>
              </c:strCache>
            </c:strRef>
          </c:tx>
          <c:spPr>
            <a:solidFill>
              <a:srgbClr val="F5B2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B27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B2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B2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B2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B2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B27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F6B8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Tamaño empresa</c:v>
                  </c:pt>
                  <c:pt idx="1">
                    <c:v>Pago puntual</c:v>
                  </c:pt>
                  <c:pt idx="2">
                    <c:v>Sesiones/mes</c:v>
                  </c:pt>
                  <c:pt idx="3">
                    <c:v>Duración contrato</c:v>
                  </c:pt>
                  <c:pt idx="4">
                    <c:v>Gasto marketing</c:v>
                  </c:pt>
                  <c:pt idx="5">
                    <c:v>Satisfacción NPS</c:v>
                  </c:pt>
                  <c:pt idx="6">
                    <c:v>Tickets soporte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323</c:v>
                </c:pt>
                <c:pt idx="1">
                  <c:v>204</c:v>
                </c:pt>
                <c:pt idx="2">
                  <c:v>184</c:v>
                </c:pt>
                <c:pt idx="3">
                  <c:v>125</c:v>
                </c:pt>
                <c:pt idx="4">
                  <c:v>57</c:v>
                </c:pt>
                <c:pt idx="5">
                  <c:v>44</c:v>
                </c:pt>
                <c:pt idx="6">
                  <c:v>-35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E4DAE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  <c:min val="-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SaaSFlow necesita anticipar fugas de ingreso. El MRR total de la cartera se calcula como 30.000 clientes x MRR promedio de 710,93 USD = 21,3 M USD/mes. La cifra de 213 mil USD por 1 % de fuga es una referencia aritmética (1 % de 21,3 M), no una estimación de ahorro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Nulos: NPS 12,0 %, tickets 8,2 %, sesiones 5,2 %. No hay duplicados ni valores fuera de rango. Los atípicos de sesiones son clientes con uso intenso (información real), por eso se conservan. Pregunta de la observación previa: no se imputa con media sin analizar atípicos; primero se mide el sesgo y luego se elige mediana/moda. Comparación en el notebook: media 0,925 / mediana 0,924 / recorte 0,918 de R2, o sea, la decisión no cambia el desempeño aquí pero es metodológicamente más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sobre el 20 % de prueba (6.000 clientes, random_state=42). R2 test 0,924, R2 train 0,919; MAE test 68,34 USD, MAE train 69,60 USD; MRR promedio real en test 708,31 USD. MAE/MRR por tamaño: Pequeña 11,8 %, Mediana 9,0 %, Grande 7,6 %.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Coeficientes con variables escaladas (RobustScaler); comparables en importancia relativa. Sector y antigüedad no aportan. Son asociaciones estadísticas, no causalidad: conviene validar las acciones con pruebas piloto antes de escalar.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Contexto y problema de negocio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 el MRR para proteger los ingresos de SaaSFlow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05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939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proyección confiable del ingreso, las fugas de clientes se detectan tarde y el equipo de Customer Success reparte su tiempo sin criterio.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7238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el MRR del próximo trimestre de cada cliente B2B con un modelo de regresión lineal, interpretable y reutilizable.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31336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Retorno (ROI)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5079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cuentas de alto valor en riesgo y dirigir el esfuerzo donde más ingreso protege. Referencia: 1 % de fuga evitado ≈ 213 mil USD/mes.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715000" y="1828800"/>
            <a:ext cx="2880360" cy="2788920"/>
          </a:xfrm>
          <a:prstGeom prst="roundRect">
            <a:avLst>
              <a:gd name="adj" fmla="val 3934"/>
            </a:avLst>
          </a:prstGeom>
          <a:solidFill>
            <a:srgbClr val="41295A"/>
          </a:solidFill>
          <a:ln w="12700">
            <a:solidFill>
              <a:srgbClr val="4129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20116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B2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 M USD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mensual de la cartera analizada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852160" y="32004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30.000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7490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B2B en el dataset (2021–2025)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Calidad y tratamiento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con nulos y sesgo, tratados sin fuga de información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inicial: % de valores nulos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39319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6616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F6F2F8"/>
          </a:solidFill>
          <a:ln w="12700">
            <a:solidFill>
              <a:srgbClr val="F6F2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39312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en promedio_sesiones_mes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50 vs. mediana 36 sesiones; asimetría 1,97 y ~5 % de atípicos (máx. 430). La media queda inflada.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clave de preparación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46320" y="1801368"/>
            <a:ext cx="384048" cy="384048"/>
          </a:xfrm>
          <a:prstGeom prst="ellipse">
            <a:avLst/>
          </a:prstGeom>
          <a:solidFill>
            <a:srgbClr val="FBE6D5"/>
          </a:solidFill>
          <a:ln w="12700">
            <a:solidFill>
              <a:srgbClr val="FBE6D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49240" y="1755648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Nulos: </a:t>
            </a:r>
            <a:pPr indent="0" marL="0">
              <a:buNone/>
            </a:pPr>
            <a:r>
              <a:rPr lang="en-US" sz="115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sesiones (sesgada); moda en tickets y NPS (discretas). Se evita la media por su sensibilidad a atípicos.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846320" y="2478024"/>
            <a:ext cx="384048" cy="384048"/>
          </a:xfrm>
          <a:prstGeom prst="ellipse">
            <a:avLst/>
          </a:prstGeom>
          <a:solidFill>
            <a:srgbClr val="FBE6D5"/>
          </a:solidFill>
          <a:ln w="12700">
            <a:solidFill>
              <a:srgbClr val="FBE6D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4632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49240" y="243230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indent="0" marL="0">
              <a:buNone/>
            </a:pPr>
            <a:r>
              <a:rPr lang="en-US" sz="115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fecha_registro pasa a antiguedad_dias.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846320" y="3154680"/>
            <a:ext cx="384048" cy="384048"/>
          </a:xfrm>
          <a:prstGeom prst="ellipse">
            <a:avLst/>
          </a:prstGeom>
          <a:solidFill>
            <a:srgbClr val="FBE6D5"/>
          </a:solidFill>
          <a:ln w="12700">
            <a:solidFill>
              <a:srgbClr val="FBE6D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3154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31089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Codificación: </a:t>
            </a:r>
            <a:pPr indent="0" marL="0">
              <a:buNone/>
            </a:pPr>
            <a:r>
              <a:rPr lang="en-US" sz="115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(tamaño), binario (pago, contrato) y one-hot (sector).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0" y="3831336"/>
            <a:ext cx="384048" cy="384048"/>
          </a:xfrm>
          <a:prstGeom prst="ellipse">
            <a:avLst/>
          </a:prstGeom>
          <a:solidFill>
            <a:srgbClr val="FBE6D5"/>
          </a:solidFill>
          <a:ln w="12700">
            <a:solidFill>
              <a:srgbClr val="FBE6D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4632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3785616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Escalado: </a:t>
            </a:r>
            <a:pPr indent="0" marL="0">
              <a:buNone/>
            </a:pPr>
            <a:r>
              <a:rPr lang="en-US" sz="115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RobustScaler: usa mediana e IQR, inmune a atípicos.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846320" y="4507992"/>
            <a:ext cx="384048" cy="384048"/>
          </a:xfrm>
          <a:prstGeom prst="ellipse">
            <a:avLst/>
          </a:prstGeom>
          <a:solidFill>
            <a:srgbClr val="FBE6D5"/>
          </a:solidFill>
          <a:ln w="12700">
            <a:solidFill>
              <a:srgbClr val="FBE6D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4632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349240" y="446227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data leakage: </a:t>
            </a:r>
            <a:pPr indent="0" marL="0">
              <a:buNone/>
            </a:pPr>
            <a:r>
              <a:rPr lang="en-US" sz="115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ajusta solo con train, dentro de un Pipeline.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Resultados del modelo y métricas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explica el 92 % del MRR y se equivoca ~68 USD por cliente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6F2F8"/>
          </a:solidFill>
          <a:ln w="12700">
            <a:solidFill>
              <a:srgbClr val="F6F2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0,924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(test)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542032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0,919: sin sobreajuste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1508760"/>
            <a:ext cx="1874520" cy="1600200"/>
          </a:xfrm>
          <a:prstGeom prst="roundRect">
            <a:avLst>
              <a:gd name="adj" fmla="val 5714"/>
            </a:avLst>
          </a:prstGeom>
          <a:solidFill>
            <a:srgbClr val="F6F2F8"/>
          </a:solidFill>
          <a:ln w="12700">
            <a:solidFill>
              <a:srgbClr val="F6F2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60020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 USD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240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(test)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15768" y="2542032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9,6 % del MRR promedio (708 USD)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relativo (MAE/MRR) por tamaño</a:t>
            </a:r>
            <a:endParaRPr lang="en-US" sz="13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754880" y="1783080"/>
          <a:ext cx="38404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leerlo en lenguaje de negocio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657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0,92: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distingue muy bien qué clientes generan mucho o poco ingreso; solo ~8 % de la variación queda sin explicar.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68 USD: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promedio, el modelo se equivoca en aproximadamente 68 USD por cliente al mes. Sirve para proyectar el ingreso total y priorizar cuentas, no para fijar el valor exacto de un cliente individual; el error pesa más en clientes pequeños.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Recomendaciones estratégicas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Tamaño, pago puntual y uso mueven el MRR: ahí actúa Customer Success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en el MRR (coeficientes, variables escaladas)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3736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84632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Acciones para Customer Success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810512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349240" y="17556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cuentas grandes con bajo uso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y las sesiones concentran el ingreso: alertar cuando el uso cae.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2560320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49240" y="250545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clientes con muchos tickets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tickets abiertos se asocian a menor MRR: resolver la fricción a tiempo.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846320" y="3310128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349240" y="325526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proactiva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puntual suma unos 204 USD de MRR: gestionar a los pagadores tardíos.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846320" y="4059936"/>
            <a:ext cx="384048" cy="38404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349240" y="400507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contratos anuales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D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contratos largos se asocian a mayor MRR y menos incertidumbre.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B1B3D"/>
      </a:dk2>
      <a:lt2>
        <a:srgbClr val="F6F2F8"/>
      </a:lt2>
      <a:accent1>
        <a:srgbClr val="E07B39"/>
      </a:accent1>
      <a:accent2>
        <a:srgbClr val="41295A"/>
      </a:accent2>
      <a:accent3>
        <a:srgbClr val="F5B27A"/>
      </a:accent3>
      <a:accent4>
        <a:srgbClr val="8E6BB0"/>
      </a:accent4>
      <a:accent5>
        <a:srgbClr val="FF6B8A"/>
      </a:accent5>
      <a:accent6>
        <a:srgbClr val="6E6478"/>
      </a:accent6>
      <a:hlink>
        <a:srgbClr val="E07B39"/>
      </a:hlink>
      <a:folHlink>
        <a:srgbClr val="8E6BB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SaaSFlow - Modelo predictivo de MRR</dc:title>
  <dc:subject>PptxGenJS Presentation</dc:subject>
  <dc:creator>PptxGenJS</dc:creator>
  <cp:lastModifiedBy>PptxGenJS</cp:lastModifiedBy>
  <cp:revision>1</cp:revision>
  <dcterms:created xsi:type="dcterms:W3CDTF">2026-09-30T04:30:03Z</dcterms:created>
  <dcterms:modified xsi:type="dcterms:W3CDTF">2026-09-30T04:30:03Z</dcterms:modified>
</cp:coreProperties>
</file>